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2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19150"/>
            <a:ext cx="12275820" cy="49307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10" y="312420"/>
            <a:ext cx="7526020" cy="51657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9" name="图片 38" descr="jhk-1728568226575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3810" y="0"/>
            <a:ext cx="12183745" cy="6858000"/>
          </a:xfrm>
          <a:prstGeom prst="rect">
            <a:avLst/>
          </a:prstGeom>
        </p:spPr>
      </p:pic>
      <p:sp>
        <p:nvSpPr>
          <p:cNvPr id="38" name="文本框 37"/>
          <p:cNvSpPr txBox="1"/>
          <p:nvPr>
            <p:custDataLst>
              <p:tags r:id="rId2"/>
            </p:custDataLst>
          </p:nvPr>
        </p:nvSpPr>
        <p:spPr>
          <a:xfrm>
            <a:off x="5185410" y="1153795"/>
            <a:ext cx="1848485" cy="1010920"/>
          </a:xfrm>
          <a:prstGeom prst="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square" rtlCol="0" anchor="t">
            <a:noAutofit/>
          </a:bodyPr>
          <a:p>
            <a:pPr marL="285750" lvl="0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bg1"/>
                </a:solidFill>
                <a:latin typeface="微软雅黑" panose="020B0503020204020204" charset="-122"/>
                <a:sym typeface="微软雅黑" panose="020B0503020204020204" charset="-122"/>
              </a:rPr>
              <a:t>评估申请与受理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bg1"/>
              </a:solidFill>
              <a:latin typeface="微软雅黑" panose="020B0503020204020204" charset="-122"/>
              <a:sym typeface="微软雅黑" panose="020B0503020204020204" charset="-122"/>
            </a:endParaRPr>
          </a:p>
          <a:p>
            <a:pPr marL="285750" lvl="0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bg1"/>
                </a:solidFill>
                <a:latin typeface="微软雅黑" panose="020B0503020204020204" charset="-122"/>
                <a:sym typeface="微软雅黑" panose="020B0503020204020204" charset="-122"/>
              </a:rPr>
              <a:t>评估实施与报告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bg1"/>
              </a:solidFill>
              <a:latin typeface="微软雅黑" panose="020B0503020204020204" charset="-122"/>
              <a:sym typeface="微软雅黑" panose="020B0503020204020204" charset="-122"/>
            </a:endParaRPr>
          </a:p>
          <a:p>
            <a:pPr marL="285750" lvl="0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bg1"/>
                </a:solidFill>
                <a:latin typeface="微软雅黑" panose="020B0503020204020204" charset="-122"/>
                <a:sym typeface="微软雅黑" panose="020B0503020204020204" charset="-122"/>
              </a:rPr>
              <a:t>优化产品与决策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bg1"/>
              </a:solidFill>
              <a:latin typeface="微软雅黑" panose="020B0503020204020204" charset="-122"/>
              <a:sym typeface="微软雅黑" panose="020B0503020204020204" charset="-122"/>
            </a:endParaRPr>
          </a:p>
          <a:p>
            <a:pPr marL="285750" lvl="0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zh-CN" altLang="en-US" sz="1400" kern="0" dirty="0">
              <a:ln>
                <a:noFill/>
                <a:prstDash val="sysDot"/>
              </a:ln>
              <a:solidFill>
                <a:schemeClr val="bg1"/>
              </a:solidFill>
              <a:latin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任意多边形: 形状 7"/>
          <p:cNvSpPr/>
          <p:nvPr>
            <p:custDataLst>
              <p:tags r:id="rId3"/>
            </p:custDataLst>
          </p:nvPr>
        </p:nvSpPr>
        <p:spPr>
          <a:xfrm>
            <a:off x="138430" y="1941830"/>
            <a:ext cx="11950065" cy="2813685"/>
          </a:xfrm>
          <a:custGeom>
            <a:avLst/>
            <a:gdLst>
              <a:gd name="connsiteX0" fmla="*/ 0 w 10969200"/>
              <a:gd name="connsiteY0" fmla="*/ 0 h 3529797"/>
              <a:gd name="connsiteX1" fmla="*/ 9748804 w 10969200"/>
              <a:gd name="connsiteY1" fmla="*/ 963548 h 3529797"/>
              <a:gd name="connsiteX2" fmla="*/ 10135800 w 10969200"/>
              <a:gd name="connsiteY2" fmla="*/ 955331 h 3529797"/>
              <a:gd name="connsiteX3" fmla="*/ 10135800 w 10969200"/>
              <a:gd name="connsiteY3" fmla="*/ 447619 h 3529797"/>
              <a:gd name="connsiteX4" fmla="*/ 10969200 w 10969200"/>
              <a:gd name="connsiteY4" fmla="*/ 1583634 h 3529797"/>
              <a:gd name="connsiteX5" fmla="*/ 10135800 w 10969200"/>
              <a:gd name="connsiteY5" fmla="*/ 2719649 h 3529797"/>
              <a:gd name="connsiteX6" fmla="*/ 10135800 w 10969200"/>
              <a:gd name="connsiteY6" fmla="*/ 2231548 h 3529797"/>
              <a:gd name="connsiteX7" fmla="*/ 8978224 w 10969200"/>
              <a:gd name="connsiteY7" fmla="*/ 2247545 h 3529797"/>
              <a:gd name="connsiteX8" fmla="*/ 0 w 10969200"/>
              <a:gd name="connsiteY8" fmla="*/ 3529797 h 3529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969200" h="3529797">
                <a:moveTo>
                  <a:pt x="0" y="0"/>
                </a:moveTo>
                <a:cubicBezTo>
                  <a:pt x="3063277" y="778525"/>
                  <a:pt x="6747271" y="1008367"/>
                  <a:pt x="9748804" y="963548"/>
                </a:cubicBezTo>
                <a:lnTo>
                  <a:pt x="10135800" y="955331"/>
                </a:lnTo>
                <a:lnTo>
                  <a:pt x="10135800" y="447619"/>
                </a:lnTo>
                <a:lnTo>
                  <a:pt x="10969200" y="1583634"/>
                </a:lnTo>
                <a:lnTo>
                  <a:pt x="10135800" y="2719649"/>
                </a:lnTo>
                <a:lnTo>
                  <a:pt x="10135800" y="2231548"/>
                </a:lnTo>
                <a:lnTo>
                  <a:pt x="8978224" y="2247545"/>
                </a:lnTo>
                <a:cubicBezTo>
                  <a:pt x="5793188" y="2320957"/>
                  <a:pt x="2580542" y="2619391"/>
                  <a:pt x="0" y="3529797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 panose="020B0500000000000000" charset="-122"/>
              <a:cs typeface="+mn-ea"/>
            </a:endParaRPr>
          </a:p>
        </p:txBody>
      </p:sp>
      <p:sp>
        <p:nvSpPr>
          <p:cNvPr id="10" name="序号"/>
          <p:cNvSpPr txBox="1">
            <a:spLocks noChangeAspect="1"/>
          </p:cNvSpPr>
          <p:nvPr>
            <p:custDataLst>
              <p:tags r:id="rId4"/>
            </p:custDataLst>
          </p:nvPr>
        </p:nvSpPr>
        <p:spPr>
          <a:xfrm>
            <a:off x="3659505" y="2834640"/>
            <a:ext cx="988060" cy="794385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FFFFFF">
                    <a:alpha val="80000"/>
                  </a:srgbClr>
                </a:solidFill>
                <a:effectLst>
                  <a:outerShdw blurRad="50800" dist="63500" dir="2700000" algn="tl" rotWithShape="0">
                    <a:srgbClr val="376FFF">
                      <a:lumMod val="75000"/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sym typeface="+mn-ea"/>
              </a:rPr>
              <a:t>01</a:t>
            </a:r>
            <a:endParaRPr lang="en-US" dirty="0">
              <a:ln>
                <a:noFill/>
              </a:ln>
              <a:solidFill>
                <a:schemeClr val="bg1">
                  <a:alpha val="80000"/>
                </a:schemeClr>
              </a:solidFill>
              <a:sym typeface="+mn-ea"/>
            </a:endParaRPr>
          </a:p>
        </p:txBody>
      </p:sp>
      <p:sp>
        <p:nvSpPr>
          <p:cNvPr id="11" name="序号"/>
          <p:cNvSpPr txBox="1">
            <a:spLocks noChangeAspect="1"/>
          </p:cNvSpPr>
          <p:nvPr>
            <p:custDataLst>
              <p:tags r:id="rId5"/>
            </p:custDataLst>
          </p:nvPr>
        </p:nvSpPr>
        <p:spPr>
          <a:xfrm>
            <a:off x="7627620" y="2834640"/>
            <a:ext cx="988060" cy="794385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FFFFFF">
                    <a:alpha val="80000"/>
                  </a:srgbClr>
                </a:solidFill>
                <a:effectLst>
                  <a:outerShdw blurRad="50800" dist="63500" dir="2700000" algn="tl" rotWithShape="0">
                    <a:srgbClr val="376FFF">
                      <a:lumMod val="75000"/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sym typeface="+mn-ea"/>
              </a:rPr>
              <a:t>03</a:t>
            </a:r>
            <a:endParaRPr lang="en-US" dirty="0"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2192020" y="4683760"/>
            <a:ext cx="2357120" cy="930275"/>
          </a:xfrm>
          <a:prstGeom prst="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t">
            <a:noAutofit/>
          </a:bodyPr>
          <a:lstStyle/>
          <a:p>
            <a:pPr marL="285750" lvl="0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 kern="0" dirty="0">
                <a:ln>
                  <a:noFill/>
                  <a:prstDash val="sysDot"/>
                </a:ln>
                <a:gradFill>
                  <a:gsLst>
                    <a:gs pos="0">
                      <a:srgbClr val="A6DC85"/>
                    </a:gs>
                    <a:gs pos="100000">
                      <a:srgbClr val="E4EDA6"/>
                    </a:gs>
                  </a:gsLst>
                  <a:lin ang="2700000" scaled="1"/>
                  <a:tileRect/>
                </a:gradFill>
                <a:latin typeface="微软雅黑" panose="020B0503020204020204" charset="-122"/>
                <a:sym typeface="微软雅黑" panose="020B0503020204020204" charset="-122"/>
              </a:rPr>
              <a:t>政府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bg1"/>
                </a:solidFill>
                <a:latin typeface="微软雅黑" panose="020B0503020204020204" charset="-122"/>
                <a:sym typeface="微软雅黑" panose="020B0503020204020204" charset="-122"/>
              </a:rPr>
              <a:t>发起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bg1"/>
                </a:solidFill>
                <a:latin typeface="微软雅黑" panose="020B0503020204020204" charset="-122"/>
                <a:sym typeface="微软雅黑" panose="020B0503020204020204" charset="-122"/>
              </a:rPr>
              <a:t>建设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bg1"/>
              </a:solidFill>
              <a:latin typeface="微软雅黑" panose="020B0503020204020204" charset="-122"/>
              <a:sym typeface="微软雅黑" panose="020B0503020204020204" charset="-122"/>
            </a:endParaRPr>
          </a:p>
          <a:p>
            <a:pPr marL="285750" lvl="0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 kern="0" dirty="0">
                <a:ln>
                  <a:noFill/>
                  <a:prstDash val="sysDot"/>
                </a:ln>
                <a:gradFill>
                  <a:gsLst>
                    <a:gs pos="0">
                      <a:srgbClr val="A6DC85"/>
                    </a:gs>
                    <a:gs pos="100000">
                      <a:srgbClr val="E4EDA6"/>
                    </a:gs>
                  </a:gsLst>
                  <a:lin ang="2700000" scaled="1"/>
                  <a:tileRect/>
                </a:gradFill>
                <a:latin typeface="微软雅黑" panose="020B0503020204020204" charset="-122"/>
                <a:sym typeface="微软雅黑" panose="020B0503020204020204" charset="-122"/>
              </a:rPr>
              <a:t>企业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bg1"/>
                </a:solidFill>
                <a:latin typeface="微软雅黑" panose="020B0503020204020204" charset="-122"/>
                <a:sym typeface="微软雅黑" panose="020B0503020204020204" charset="-122"/>
              </a:rPr>
              <a:t>上传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bg1"/>
                </a:solidFill>
                <a:latin typeface="微软雅黑" panose="020B0503020204020204" charset="-122"/>
                <a:sym typeface="微软雅黑" panose="020B0503020204020204" charset="-122"/>
              </a:rPr>
              <a:t>数据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bg1"/>
              </a:solidFill>
              <a:latin typeface="微软雅黑" panose="020B0503020204020204" charset="-122"/>
              <a:sym typeface="微软雅黑" panose="020B0503020204020204" charset="-122"/>
            </a:endParaRPr>
          </a:p>
          <a:p>
            <a:pPr marL="285750" lvl="0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 kern="0" dirty="0">
                <a:ln>
                  <a:noFill/>
                  <a:prstDash val="sysDot"/>
                </a:ln>
                <a:gradFill>
                  <a:gsLst>
                    <a:gs pos="0">
                      <a:srgbClr val="A6DC85"/>
                    </a:gs>
                    <a:gs pos="100000">
                      <a:srgbClr val="E4EDA6"/>
                    </a:gs>
                  </a:gsLst>
                  <a:lin ang="2700000" scaled="1"/>
                  <a:tileRect/>
                </a:gradFill>
                <a:latin typeface="微软雅黑" panose="020B0503020204020204" charset="-122"/>
                <a:sym typeface="微软雅黑" panose="020B0503020204020204" charset="-122"/>
              </a:rPr>
              <a:t>银行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bg1"/>
                </a:solidFill>
                <a:latin typeface="微软雅黑" panose="020B0503020204020204" charset="-122"/>
                <a:sym typeface="微软雅黑" panose="020B0503020204020204" charset="-122"/>
              </a:rPr>
              <a:t>评估生态产品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bg1"/>
                </a:solidFill>
                <a:latin typeface="微软雅黑" panose="020B0503020204020204" charset="-122"/>
                <a:sym typeface="微软雅黑" panose="020B0503020204020204" charset="-122"/>
              </a:rPr>
              <a:t>价值</a:t>
            </a:r>
            <a:endParaRPr lang="zh-CN" altLang="en-US" sz="1400" kern="0" dirty="0">
              <a:ln>
                <a:noFill/>
                <a:prstDash val="sysDot"/>
              </a:ln>
              <a:gradFill>
                <a:gsLst>
                  <a:gs pos="0">
                    <a:srgbClr val="A6DC85"/>
                  </a:gs>
                  <a:gs pos="100000">
                    <a:srgbClr val="E4EDA6"/>
                  </a:gs>
                </a:gsLst>
                <a:lin ang="2700000" scaled="1"/>
                <a:tileRect/>
              </a:gradFill>
              <a:latin typeface="微软雅黑" panose="020B0503020204020204" charset="-122"/>
              <a:sym typeface="微软雅黑" panose="020B0503020204020204" charset="-122"/>
            </a:endParaRPr>
          </a:p>
          <a:p>
            <a:pPr marL="285750" lvl="0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zh-CN" altLang="en-US" sz="1400" kern="0" dirty="0">
              <a:ln>
                <a:noFill/>
                <a:prstDash val="sysDot"/>
              </a:ln>
              <a:gradFill>
                <a:gsLst>
                  <a:gs pos="0">
                    <a:srgbClr val="A6DC85"/>
                  </a:gs>
                  <a:gs pos="100000">
                    <a:srgbClr val="E4EDA6"/>
                  </a:gs>
                </a:gsLst>
                <a:lin ang="2700000" scaled="1"/>
                <a:tileRect/>
              </a:gradFill>
              <a:latin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标题"/>
          <p:cNvSpPr txBox="1"/>
          <p:nvPr>
            <p:custDataLst>
              <p:tags r:id="rId7"/>
            </p:custDataLst>
          </p:nvPr>
        </p:nvSpPr>
        <p:spPr>
          <a:xfrm>
            <a:off x="2334895" y="4370070"/>
            <a:ext cx="2286635" cy="337185"/>
          </a:xfrm>
          <a:prstGeom prst="roundRect">
            <a:avLst>
              <a:gd name="adj" fmla="val 50000"/>
            </a:avLst>
          </a:pr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ctr">
              <a:defRPr sz="1600" b="1" spc="300">
                <a:solidFill>
                  <a:srgbClr val="376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zh-CN" altLang="en-US" dirty="0">
                <a:solidFill>
                  <a:schemeClr val="bg1"/>
                </a:solidFill>
                <a:sym typeface="+mn-ea"/>
              </a:rPr>
              <a:t>数据</a:t>
            </a:r>
            <a:r>
              <a:rPr lang="zh-CN" altLang="en-US" dirty="0">
                <a:solidFill>
                  <a:schemeClr val="bg1"/>
                </a:solidFill>
                <a:sym typeface="+mn-ea"/>
              </a:rPr>
              <a:t>共享平台</a:t>
            </a:r>
            <a:r>
              <a:rPr lang="zh-CN" altLang="en-US" dirty="0">
                <a:solidFill>
                  <a:schemeClr val="bg1"/>
                </a:solidFill>
                <a:sym typeface="+mn-ea"/>
              </a:rPr>
              <a:t>搭建</a:t>
            </a:r>
            <a:endParaRPr lang="zh-CN" altLang="en-US" dirty="0">
              <a:sym typeface="+mn-ea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8"/>
            </p:custDataLst>
          </p:nvPr>
        </p:nvCxnSpPr>
        <p:spPr>
          <a:xfrm flipH="1">
            <a:off x="4792345" y="1323975"/>
            <a:ext cx="16510" cy="3997325"/>
          </a:xfrm>
          <a:prstGeom prst="line">
            <a:avLst/>
          </a:prstGeom>
          <a:ln w="15875">
            <a:gradFill flip="none" rotWithShape="1">
              <a:gsLst>
                <a:gs pos="0">
                  <a:srgbClr val="376FFF">
                    <a:alpha val="0"/>
                  </a:srgbClr>
                </a:gs>
                <a:gs pos="50000">
                  <a:srgbClr val="376FFF">
                    <a:alpha val="40000"/>
                  </a:srgbClr>
                </a:gs>
                <a:gs pos="100000">
                  <a:srgbClr val="376FFF">
                    <a:alpha val="0"/>
                  </a:srgbClr>
                </a:gs>
              </a:gsLst>
              <a:lin ang="5400000" scaled="1"/>
              <a:tileRect/>
            </a:gradFill>
            <a:prstDash val="dash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cxnSp>
        <p:nvCxnSpPr>
          <p:cNvPr id="15" name="直接连接符 14"/>
          <p:cNvCxnSpPr/>
          <p:nvPr>
            <p:custDataLst>
              <p:tags r:id="rId9"/>
            </p:custDataLst>
          </p:nvPr>
        </p:nvCxnSpPr>
        <p:spPr>
          <a:xfrm flipH="1">
            <a:off x="7124700" y="1442085"/>
            <a:ext cx="12065" cy="3879215"/>
          </a:xfrm>
          <a:prstGeom prst="line">
            <a:avLst/>
          </a:prstGeom>
          <a:ln w="15875">
            <a:gradFill flip="none" rotWithShape="1">
              <a:gsLst>
                <a:gs pos="0">
                  <a:srgbClr val="376FFF">
                    <a:alpha val="0"/>
                  </a:srgbClr>
                </a:gs>
                <a:gs pos="50000">
                  <a:srgbClr val="376FFF">
                    <a:alpha val="40000"/>
                  </a:srgbClr>
                </a:gs>
                <a:gs pos="100000">
                  <a:srgbClr val="376FFF">
                    <a:alpha val="0"/>
                  </a:srgbClr>
                </a:gs>
              </a:gsLst>
              <a:lin ang="5400000" scaled="1"/>
              <a:tileRect/>
            </a:gradFill>
            <a:prstDash val="dash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17" name="标题"/>
          <p:cNvSpPr txBox="1"/>
          <p:nvPr>
            <p:custDataLst>
              <p:tags r:id="rId10"/>
            </p:custDataLst>
          </p:nvPr>
        </p:nvSpPr>
        <p:spPr>
          <a:xfrm>
            <a:off x="4982845" y="4056380"/>
            <a:ext cx="1794510" cy="337185"/>
          </a:xfrm>
          <a:prstGeom prst="roundRect">
            <a:avLst>
              <a:gd name="adj" fmla="val 50000"/>
            </a:avLst>
          </a:pr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ctr">
              <a:defRPr sz="1600" b="1" spc="300">
                <a:solidFill>
                  <a:srgbClr val="376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zh-CN" altLang="en-US" dirty="0">
                <a:solidFill>
                  <a:schemeClr val="bg1"/>
                </a:solidFill>
                <a:sym typeface="+mn-ea"/>
              </a:rPr>
              <a:t>数据平台</a:t>
            </a:r>
            <a:r>
              <a:rPr lang="zh-CN" altLang="en-US" dirty="0">
                <a:solidFill>
                  <a:schemeClr val="bg1"/>
                </a:solidFill>
                <a:sym typeface="+mn-ea"/>
              </a:rPr>
              <a:t>运营</a:t>
            </a:r>
            <a:endParaRPr lang="zh-CN" altLang="en-US" dirty="0">
              <a:sym typeface="+mn-ea"/>
            </a:endParaRPr>
          </a:p>
        </p:txBody>
      </p:sp>
      <p:sp>
        <p:nvSpPr>
          <p:cNvPr id="18" name="文本框 17"/>
          <p:cNvSpPr txBox="1"/>
          <p:nvPr>
            <p:custDataLst>
              <p:tags r:id="rId11"/>
            </p:custDataLst>
          </p:nvPr>
        </p:nvSpPr>
        <p:spPr>
          <a:xfrm>
            <a:off x="4955540" y="4403090"/>
            <a:ext cx="1964055" cy="976630"/>
          </a:xfrm>
          <a:prstGeom prst="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t">
            <a:noAutofit/>
          </a:bodyPr>
          <a:lstStyle/>
          <a:p>
            <a:pPr marL="285750" lvl="0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bg1"/>
                </a:solidFill>
                <a:latin typeface="微软雅黑" panose="020B0503020204020204" charset="-122"/>
                <a:sym typeface="微软雅黑" panose="020B0503020204020204" charset="-122"/>
              </a:rPr>
              <a:t>数据采集与上传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bg1"/>
              </a:solidFill>
              <a:latin typeface="微软雅黑" panose="020B0503020204020204" charset="-122"/>
              <a:sym typeface="微软雅黑" panose="020B0503020204020204" charset="-122"/>
            </a:endParaRPr>
          </a:p>
          <a:p>
            <a:pPr marL="285750" lvl="0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bg1"/>
                </a:solidFill>
                <a:latin typeface="微软雅黑" panose="020B0503020204020204" charset="-122"/>
                <a:sym typeface="微软雅黑" panose="020B0503020204020204" charset="-122"/>
              </a:rPr>
              <a:t>数据共享与查询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bg1"/>
              </a:solidFill>
              <a:latin typeface="微软雅黑" panose="020B0503020204020204" charset="-122"/>
              <a:sym typeface="微软雅黑" panose="020B0503020204020204" charset="-122"/>
            </a:endParaRPr>
          </a:p>
          <a:p>
            <a:pPr marL="285750" lvl="0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bg1"/>
                </a:solidFill>
                <a:latin typeface="微软雅黑" panose="020B0503020204020204" charset="-122"/>
                <a:sym typeface="微软雅黑" panose="020B0503020204020204" charset="-122"/>
              </a:rPr>
              <a:t>数据安全与保护</a:t>
            </a:r>
            <a:endParaRPr lang="zh-CN" altLang="en-US" sz="1400" kern="0" dirty="0">
              <a:ln>
                <a:noFill/>
                <a:prstDash val="sysDot"/>
              </a:ln>
              <a:gradFill>
                <a:gsLst>
                  <a:gs pos="0">
                    <a:srgbClr val="A6DC85"/>
                  </a:gs>
                  <a:gs pos="100000">
                    <a:srgbClr val="E4EDA6"/>
                  </a:gs>
                </a:gsLst>
                <a:lin ang="2700000" scaled="1"/>
                <a:tileRect/>
              </a:gradFill>
              <a:latin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9" name="序号"/>
          <p:cNvSpPr txBox="1"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5648325" y="2834640"/>
            <a:ext cx="988060" cy="794385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FFFFFF">
                    <a:alpha val="80000"/>
                  </a:srgbClr>
                </a:solidFill>
                <a:effectLst>
                  <a:outerShdw blurRad="50800" dist="63500" dir="2700000" algn="tl" rotWithShape="0">
                    <a:srgbClr val="376FFF">
                      <a:lumMod val="75000"/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sym typeface="+mn-ea"/>
              </a:rPr>
              <a:t>02</a:t>
            </a:r>
            <a:endParaRPr lang="en-US" dirty="0">
              <a:sym typeface="+mn-ea"/>
            </a:endParaRPr>
          </a:p>
        </p:txBody>
      </p:sp>
      <p:sp>
        <p:nvSpPr>
          <p:cNvPr id="20" name="标题"/>
          <p:cNvSpPr txBox="1"/>
          <p:nvPr>
            <p:custDataLst>
              <p:tags r:id="rId13"/>
            </p:custDataLst>
          </p:nvPr>
        </p:nvSpPr>
        <p:spPr>
          <a:xfrm>
            <a:off x="7256145" y="3891280"/>
            <a:ext cx="1550035" cy="337185"/>
          </a:xfrm>
          <a:prstGeom prst="roundRect">
            <a:avLst>
              <a:gd name="adj" fmla="val 50000"/>
            </a:avLst>
          </a:pr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ctr">
              <a:defRPr sz="1600" b="1" spc="300">
                <a:solidFill>
                  <a:srgbClr val="376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zh-CN" altLang="en-US" dirty="0">
                <a:solidFill>
                  <a:schemeClr val="bg1"/>
                </a:solidFill>
                <a:sym typeface="+mn-ea"/>
              </a:rPr>
              <a:t>数据平台</a:t>
            </a:r>
            <a:r>
              <a:rPr lang="zh-CN" altLang="en-US" dirty="0">
                <a:solidFill>
                  <a:schemeClr val="bg1"/>
                </a:solidFill>
                <a:sym typeface="+mn-ea"/>
              </a:rPr>
              <a:t>完</a:t>
            </a:r>
            <a:r>
              <a:rPr lang="zh-CN" altLang="en-US" dirty="0">
                <a:solidFill>
                  <a:schemeClr val="bg1"/>
                </a:solidFill>
                <a:sym typeface="+mn-ea"/>
              </a:rPr>
              <a:t>善</a:t>
            </a:r>
            <a:endParaRPr lang="zh-CN" altLang="en-US" dirty="0"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14"/>
            </p:custDataLst>
          </p:nvPr>
        </p:nvSpPr>
        <p:spPr>
          <a:xfrm>
            <a:off x="7150100" y="4221480"/>
            <a:ext cx="2956560" cy="1094740"/>
          </a:xfrm>
          <a:prstGeom prst="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t">
            <a:noAutofit/>
          </a:bodyPr>
          <a:lstStyle/>
          <a:p>
            <a:pPr marL="285750" lvl="0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 kern="0" dirty="0">
                <a:ln>
                  <a:noFill/>
                  <a:prstDash val="sysDot"/>
                </a:ln>
                <a:gradFill>
                  <a:gsLst>
                    <a:gs pos="0">
                      <a:srgbClr val="A6DC85"/>
                    </a:gs>
                    <a:gs pos="100000">
                      <a:srgbClr val="E4EDA6"/>
                    </a:gs>
                  </a:gsLst>
                  <a:lin ang="2700000" scaled="1"/>
                  <a:tileRect/>
                </a:gradFill>
                <a:latin typeface="微软雅黑" panose="020B0503020204020204" charset="-122"/>
                <a:sym typeface="微软雅黑" panose="020B0503020204020204" charset="-122"/>
              </a:rPr>
              <a:t>政府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bg1"/>
                </a:solidFill>
                <a:latin typeface="微软雅黑" panose="020B0503020204020204" charset="-122"/>
                <a:sym typeface="微软雅黑" panose="020B0503020204020204" charset="-122"/>
              </a:rPr>
              <a:t>协调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bg1"/>
                </a:solidFill>
                <a:latin typeface="微软雅黑" panose="020B0503020204020204" charset="-122"/>
                <a:sym typeface="微软雅黑" panose="020B0503020204020204" charset="-122"/>
              </a:rPr>
              <a:t>市场主体数据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bg1"/>
                </a:solidFill>
                <a:latin typeface="微软雅黑" panose="020B0503020204020204" charset="-122"/>
                <a:sym typeface="微软雅黑" panose="020B0503020204020204" charset="-122"/>
              </a:rPr>
              <a:t>共享</a:t>
            </a:r>
            <a:endParaRPr lang="zh-CN" altLang="en-US" sz="1400" kern="0" dirty="0">
              <a:ln>
                <a:noFill/>
                <a:prstDash val="sysDot"/>
              </a:ln>
              <a:gradFill>
                <a:gsLst>
                  <a:gs pos="0">
                    <a:srgbClr val="A6DC85"/>
                  </a:gs>
                  <a:gs pos="100000">
                    <a:srgbClr val="E4EDA6"/>
                  </a:gs>
                </a:gsLst>
                <a:lin ang="2700000" scaled="1"/>
                <a:tileRect/>
              </a:gradFill>
              <a:latin typeface="微软雅黑" panose="020B0503020204020204" charset="-122"/>
              <a:sym typeface="微软雅黑" panose="020B0503020204020204" charset="-122"/>
            </a:endParaRPr>
          </a:p>
          <a:p>
            <a:pPr marL="285750" lvl="0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 kern="0" dirty="0">
                <a:ln>
                  <a:noFill/>
                  <a:prstDash val="sysDot"/>
                </a:ln>
                <a:gradFill>
                  <a:gsLst>
                    <a:gs pos="0">
                      <a:srgbClr val="A6DC85"/>
                    </a:gs>
                    <a:gs pos="100000">
                      <a:srgbClr val="E4EDA6"/>
                    </a:gs>
                  </a:gsLst>
                  <a:lin ang="2700000" scaled="1"/>
                  <a:tileRect/>
                </a:gradFill>
                <a:latin typeface="微软雅黑" panose="020B0503020204020204" charset="-122"/>
                <a:sym typeface="微软雅黑" panose="020B0503020204020204" charset="-122"/>
              </a:rPr>
              <a:t>企业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bg1"/>
                </a:solidFill>
                <a:latin typeface="微软雅黑" panose="020B0503020204020204" charset="-122"/>
                <a:sym typeface="微软雅黑" panose="020B0503020204020204" charset="-122"/>
              </a:rPr>
              <a:t>优化自身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bg1"/>
                </a:solidFill>
                <a:latin typeface="微软雅黑" panose="020B0503020204020204" charset="-122"/>
                <a:sym typeface="微软雅黑" panose="020B0503020204020204" charset="-122"/>
              </a:rPr>
              <a:t>产品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bg1"/>
                </a:solidFill>
                <a:latin typeface="微软雅黑" panose="020B0503020204020204" charset="-122"/>
                <a:sym typeface="微软雅黑" panose="020B0503020204020204" charset="-122"/>
              </a:rPr>
              <a:t>和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bg1"/>
                </a:solidFill>
                <a:latin typeface="微软雅黑" panose="020B0503020204020204" charset="-122"/>
                <a:sym typeface="微软雅黑" panose="020B0503020204020204" charset="-122"/>
              </a:rPr>
              <a:t>服务</a:t>
            </a:r>
            <a:endParaRPr lang="zh-CN" altLang="en-US" sz="1400" kern="0" dirty="0">
              <a:ln>
                <a:noFill/>
                <a:prstDash val="sysDot"/>
              </a:ln>
              <a:gradFill>
                <a:gsLst>
                  <a:gs pos="0">
                    <a:srgbClr val="A6DC85"/>
                  </a:gs>
                  <a:gs pos="100000">
                    <a:srgbClr val="E4EDA6"/>
                  </a:gs>
                </a:gsLst>
                <a:lin ang="2700000" scaled="1"/>
                <a:tileRect/>
              </a:gradFill>
              <a:latin typeface="微软雅黑" panose="020B0503020204020204" charset="-122"/>
              <a:sym typeface="微软雅黑" panose="020B0503020204020204" charset="-122"/>
            </a:endParaRPr>
          </a:p>
          <a:p>
            <a:pPr marL="285750" lvl="0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 kern="0" dirty="0">
                <a:ln>
                  <a:noFill/>
                  <a:prstDash val="sysDot"/>
                </a:ln>
                <a:gradFill>
                  <a:gsLst>
                    <a:gs pos="0">
                      <a:srgbClr val="A6DC85"/>
                    </a:gs>
                    <a:gs pos="100000">
                      <a:srgbClr val="E4EDA6"/>
                    </a:gs>
                  </a:gsLst>
                  <a:lin ang="2700000" scaled="1"/>
                  <a:tileRect/>
                </a:gradFill>
                <a:latin typeface="微软雅黑" panose="020B0503020204020204" charset="-122"/>
                <a:sym typeface="微软雅黑" panose="020B0503020204020204" charset="-122"/>
              </a:rPr>
              <a:t>银行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bg1"/>
                </a:solidFill>
                <a:latin typeface="微软雅黑" panose="020B0503020204020204" charset="-122"/>
                <a:sym typeface="微软雅黑" panose="020B0503020204020204" charset="-122"/>
              </a:rPr>
              <a:t>推动绿色金融产品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bg1"/>
                </a:solidFill>
                <a:latin typeface="微软雅黑" panose="020B0503020204020204" charset="-122"/>
                <a:sym typeface="微软雅黑" panose="020B0503020204020204" charset="-122"/>
              </a:rPr>
              <a:t>创新</a:t>
            </a:r>
            <a:endParaRPr lang="zh-CN" altLang="en-US" sz="1400" kern="0" dirty="0">
              <a:ln>
                <a:noFill/>
                <a:prstDash val="sysDot"/>
              </a:ln>
              <a:gradFill>
                <a:gsLst>
                  <a:gs pos="0">
                    <a:srgbClr val="A6DC85"/>
                  </a:gs>
                  <a:gs pos="100000">
                    <a:srgbClr val="E4EDA6"/>
                  </a:gs>
                </a:gsLst>
                <a:lin ang="2700000" scaled="1"/>
                <a:tileRect/>
              </a:gradFill>
              <a:latin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9" name="标题"/>
          <p:cNvSpPr txBox="1"/>
          <p:nvPr>
            <p:custDataLst>
              <p:tags r:id="rId15"/>
            </p:custDataLst>
          </p:nvPr>
        </p:nvSpPr>
        <p:spPr>
          <a:xfrm>
            <a:off x="1864995" y="1827530"/>
            <a:ext cx="2559685" cy="337185"/>
          </a:xfrm>
          <a:prstGeom prst="roundRect">
            <a:avLst>
              <a:gd name="adj" fmla="val 50000"/>
            </a:avLst>
          </a:pr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 rtlCol="0" anchor="ctr" anchorCtr="0">
            <a:noAutofit/>
          </a:bodyPr>
          <a:lstStyle>
            <a:defPPr>
              <a:defRPr lang="zh-CN"/>
            </a:defPPr>
            <a:lvl1pPr algn="ctr">
              <a:defRPr sz="1600" b="1" spc="300">
                <a:solidFill>
                  <a:srgbClr val="376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标准化评估体系搭建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16"/>
            </p:custDataLst>
          </p:nvPr>
        </p:nvSpPr>
        <p:spPr>
          <a:xfrm>
            <a:off x="1963420" y="899795"/>
            <a:ext cx="2281555" cy="927735"/>
          </a:xfrm>
          <a:prstGeom prst="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square" rtlCol="0" anchor="t">
            <a:noAutofit/>
          </a:bodyPr>
          <a:p>
            <a:pPr marL="285750" lvl="0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 kern="0" dirty="0">
                <a:ln>
                  <a:noFill/>
                  <a:prstDash val="sysDot"/>
                </a:ln>
                <a:gradFill>
                  <a:gsLst>
                    <a:gs pos="0">
                      <a:srgbClr val="A6DC85"/>
                    </a:gs>
                    <a:gs pos="100000">
                      <a:srgbClr val="E4EDA6"/>
                    </a:gs>
                  </a:gsLst>
                  <a:lin ang="2700000" scaled="1"/>
                  <a:tileRect/>
                </a:gradFill>
                <a:latin typeface="微软雅黑" panose="020B0503020204020204" charset="-122"/>
                <a:sym typeface="微软雅黑" panose="020B0503020204020204" charset="-122"/>
              </a:rPr>
              <a:t>政府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bg1"/>
                </a:solidFill>
                <a:latin typeface="微软雅黑" panose="020B0503020204020204" charset="-122"/>
                <a:sym typeface="微软雅黑" panose="020B0503020204020204" charset="-122"/>
              </a:rPr>
              <a:t>制定评估标准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bg1"/>
              </a:solidFill>
              <a:latin typeface="微软雅黑" panose="020B0503020204020204" charset="-122"/>
              <a:sym typeface="微软雅黑" panose="020B0503020204020204" charset="-122"/>
            </a:endParaRPr>
          </a:p>
          <a:p>
            <a:pPr marL="285750" lvl="0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 kern="0" dirty="0">
                <a:ln>
                  <a:noFill/>
                  <a:prstDash val="sysDot"/>
                </a:ln>
                <a:gradFill>
                  <a:gsLst>
                    <a:gs pos="0">
                      <a:srgbClr val="A6DC85"/>
                    </a:gs>
                    <a:gs pos="100000">
                      <a:srgbClr val="E4EDA6"/>
                    </a:gs>
                  </a:gsLst>
                  <a:lin ang="2700000" scaled="1"/>
                  <a:tileRect/>
                </a:gradFill>
                <a:latin typeface="微软雅黑" panose="020B0503020204020204" charset="-122"/>
                <a:sym typeface="微软雅黑" panose="020B0503020204020204" charset="-122"/>
              </a:rPr>
              <a:t>企业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bg1"/>
                </a:solidFill>
                <a:latin typeface="微软雅黑" panose="020B0503020204020204" charset="-122"/>
                <a:sym typeface="微软雅黑" panose="020B0503020204020204" charset="-122"/>
              </a:rPr>
              <a:t>参与制定</a:t>
            </a:r>
            <a:endParaRPr lang="zh-CN" altLang="en-US" sz="1400" kern="0" dirty="0">
              <a:ln>
                <a:noFill/>
                <a:prstDash val="sysDot"/>
              </a:ln>
              <a:gradFill>
                <a:gsLst>
                  <a:gs pos="0">
                    <a:srgbClr val="A6DC85"/>
                  </a:gs>
                  <a:gs pos="100000">
                    <a:srgbClr val="E4EDA6"/>
                  </a:gs>
                </a:gsLst>
                <a:lin ang="2700000" scaled="1"/>
                <a:tileRect/>
              </a:gradFill>
              <a:latin typeface="微软雅黑" panose="020B0503020204020204" charset="-122"/>
              <a:sym typeface="微软雅黑" panose="020B0503020204020204" charset="-122"/>
            </a:endParaRPr>
          </a:p>
          <a:p>
            <a:pPr marL="285750" lvl="0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 kern="0" dirty="0">
                <a:ln>
                  <a:noFill/>
                  <a:prstDash val="sysDot"/>
                </a:ln>
                <a:gradFill>
                  <a:gsLst>
                    <a:gs pos="0">
                      <a:srgbClr val="A6DC85"/>
                    </a:gs>
                    <a:gs pos="100000">
                      <a:srgbClr val="E4EDA6"/>
                    </a:gs>
                  </a:gsLst>
                  <a:lin ang="2700000" scaled="1"/>
                  <a:tileRect/>
                </a:gradFill>
                <a:latin typeface="微软雅黑" panose="020B0503020204020204" charset="-122"/>
                <a:sym typeface="微软雅黑" panose="020B0503020204020204" charset="-122"/>
              </a:rPr>
              <a:t>银行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bg1"/>
                </a:solidFill>
                <a:latin typeface="微软雅黑" panose="020B0503020204020204" charset="-122"/>
                <a:sym typeface="微软雅黑" panose="020B0503020204020204" charset="-122"/>
              </a:rPr>
              <a:t>评估绿色信贷项目</a:t>
            </a:r>
            <a:endParaRPr lang="zh-CN" altLang="en-US" sz="1400" kern="0" dirty="0">
              <a:ln>
                <a:noFill/>
                <a:prstDash val="sysDot"/>
              </a:ln>
              <a:gradFill>
                <a:gsLst>
                  <a:gs pos="0">
                    <a:srgbClr val="A6DC85"/>
                  </a:gs>
                  <a:gs pos="100000">
                    <a:srgbClr val="E4EDA6"/>
                  </a:gs>
                </a:gsLst>
                <a:lin ang="2700000" scaled="1"/>
                <a:tileRect/>
              </a:gradFill>
              <a:latin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6" name="标题"/>
          <p:cNvSpPr txBox="1"/>
          <p:nvPr>
            <p:custDataLst>
              <p:tags r:id="rId17"/>
            </p:custDataLst>
          </p:nvPr>
        </p:nvSpPr>
        <p:spPr>
          <a:xfrm>
            <a:off x="7237730" y="2251710"/>
            <a:ext cx="1988185" cy="337185"/>
          </a:xfrm>
          <a:prstGeom prst="roundRect">
            <a:avLst>
              <a:gd name="adj" fmla="val 50000"/>
            </a:avLst>
          </a:pr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ctr">
              <a:defRPr sz="1600" b="1" spc="300">
                <a:solidFill>
                  <a:srgbClr val="376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zh-CN" altLang="en-US" dirty="0">
                <a:solidFill>
                  <a:schemeClr val="bg1"/>
                </a:solidFill>
                <a:sym typeface="+mn-ea"/>
              </a:rPr>
              <a:t>评估体系</a:t>
            </a:r>
            <a:r>
              <a:rPr lang="zh-CN" altLang="en-US" dirty="0">
                <a:solidFill>
                  <a:schemeClr val="bg1"/>
                </a:solidFill>
                <a:sym typeface="+mn-ea"/>
              </a:rPr>
              <a:t>完善</a:t>
            </a:r>
            <a:endParaRPr lang="zh-CN" altLang="en-US" dirty="0">
              <a:sym typeface="+mn-ea"/>
            </a:endParaRPr>
          </a:p>
        </p:txBody>
      </p:sp>
      <p:sp>
        <p:nvSpPr>
          <p:cNvPr id="37" name="文本框 36"/>
          <p:cNvSpPr txBox="1"/>
          <p:nvPr>
            <p:custDataLst>
              <p:tags r:id="rId18"/>
            </p:custDataLst>
          </p:nvPr>
        </p:nvSpPr>
        <p:spPr>
          <a:xfrm>
            <a:off x="7237730" y="1153795"/>
            <a:ext cx="3063875" cy="1097915"/>
          </a:xfrm>
          <a:prstGeom prst="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square" rtlCol="0" anchor="t">
            <a:noAutofit/>
          </a:bodyPr>
          <a:p>
            <a:pPr marL="285750" lvl="0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 kern="0" dirty="0">
                <a:ln>
                  <a:noFill/>
                  <a:prstDash val="sysDot"/>
                </a:ln>
                <a:gradFill>
                  <a:gsLst>
                    <a:gs pos="0">
                      <a:srgbClr val="A6DC85"/>
                    </a:gs>
                    <a:gs pos="100000">
                      <a:srgbClr val="E4EDA6"/>
                    </a:gs>
                  </a:gsLst>
                  <a:lin ang="2700000" scaled="1"/>
                  <a:tileRect/>
                </a:gradFill>
                <a:latin typeface="微软雅黑" panose="020B0503020204020204" charset="-122"/>
                <a:sym typeface="微软雅黑" panose="020B0503020204020204" charset="-122"/>
              </a:rPr>
              <a:t>政府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bg1"/>
                </a:solidFill>
                <a:latin typeface="微软雅黑" panose="020B0503020204020204" charset="-122"/>
                <a:sym typeface="微软雅黑" panose="020B0503020204020204" charset="-122"/>
              </a:rPr>
              <a:t>优化政策支持交易和融资</a:t>
            </a:r>
            <a:endParaRPr lang="zh-CN" altLang="en-US" sz="1400" kern="0" dirty="0">
              <a:ln>
                <a:noFill/>
                <a:prstDash val="sysDot"/>
              </a:ln>
              <a:gradFill>
                <a:gsLst>
                  <a:gs pos="0">
                    <a:srgbClr val="A6DC85"/>
                  </a:gs>
                  <a:gs pos="100000">
                    <a:srgbClr val="E4EDA6"/>
                  </a:gs>
                </a:gsLst>
                <a:lin ang="2700000" scaled="1"/>
                <a:tileRect/>
              </a:gradFill>
              <a:latin typeface="微软雅黑" panose="020B0503020204020204" charset="-122"/>
              <a:sym typeface="微软雅黑" panose="020B0503020204020204" charset="-122"/>
            </a:endParaRPr>
          </a:p>
          <a:p>
            <a:pPr marL="285750" lvl="0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 kern="0" dirty="0">
                <a:ln>
                  <a:noFill/>
                  <a:prstDash val="sysDot"/>
                </a:ln>
                <a:gradFill>
                  <a:gsLst>
                    <a:gs pos="0">
                      <a:srgbClr val="A6DC85"/>
                    </a:gs>
                    <a:gs pos="100000">
                      <a:srgbClr val="E4EDA6"/>
                    </a:gs>
                  </a:gsLst>
                  <a:lin ang="2700000" scaled="1"/>
                  <a:tileRect/>
                </a:gradFill>
                <a:latin typeface="微软雅黑" panose="020B0503020204020204" charset="-122"/>
                <a:sym typeface="微软雅黑" panose="020B0503020204020204" charset="-122"/>
              </a:rPr>
              <a:t>企业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bg1"/>
                </a:solidFill>
                <a:latin typeface="微软雅黑" panose="020B0503020204020204" charset="-122"/>
                <a:sym typeface="微软雅黑" panose="020B0503020204020204" charset="-122"/>
              </a:rPr>
              <a:t>提出评估规则的修订建议</a:t>
            </a:r>
            <a:endParaRPr lang="zh-CN" altLang="en-US" sz="1400" kern="0" dirty="0">
              <a:ln>
                <a:noFill/>
                <a:prstDash val="sysDot"/>
              </a:ln>
              <a:gradFill>
                <a:gsLst>
                  <a:gs pos="0">
                    <a:srgbClr val="A6DC85"/>
                  </a:gs>
                  <a:gs pos="100000">
                    <a:srgbClr val="E4EDA6"/>
                  </a:gs>
                </a:gsLst>
                <a:lin ang="2700000" scaled="1"/>
                <a:tileRect/>
              </a:gradFill>
              <a:latin typeface="微软雅黑" panose="020B0503020204020204" charset="-122"/>
              <a:sym typeface="微软雅黑" panose="020B0503020204020204" charset="-122"/>
            </a:endParaRPr>
          </a:p>
          <a:p>
            <a:pPr marL="285750" lvl="0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b="1" kern="0" dirty="0">
                <a:ln>
                  <a:noFill/>
                  <a:prstDash val="sysDot"/>
                </a:ln>
                <a:gradFill>
                  <a:gsLst>
                    <a:gs pos="0">
                      <a:srgbClr val="A6DC85"/>
                    </a:gs>
                    <a:gs pos="100000">
                      <a:srgbClr val="E4EDA6"/>
                    </a:gs>
                  </a:gsLst>
                  <a:lin ang="2700000" scaled="1"/>
                  <a:tileRect/>
                </a:gradFill>
                <a:latin typeface="微软雅黑" panose="020B0503020204020204" charset="-122"/>
                <a:sym typeface="微软雅黑" panose="020B0503020204020204" charset="-122"/>
              </a:rPr>
              <a:t>银行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bg1"/>
                </a:solidFill>
                <a:latin typeface="微软雅黑" panose="020B0503020204020204" charset="-122"/>
                <a:sym typeface="微软雅黑" panose="020B0503020204020204" charset="-122"/>
              </a:rPr>
              <a:t>应用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bg1"/>
                </a:solidFill>
                <a:latin typeface="微软雅黑" panose="020B0503020204020204" charset="-122"/>
                <a:sym typeface="微软雅黑" panose="020B0503020204020204" charset="-122"/>
              </a:rPr>
              <a:t>评估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bg1"/>
                </a:solidFill>
                <a:latin typeface="微软雅黑" panose="020B0503020204020204" charset="-122"/>
                <a:sym typeface="微软雅黑" panose="020B0503020204020204" charset="-122"/>
              </a:rPr>
              <a:t>调整服务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bg1"/>
                </a:solidFill>
                <a:latin typeface="微软雅黑" panose="020B0503020204020204" charset="-122"/>
                <a:sym typeface="微软雅黑" panose="020B0503020204020204" charset="-122"/>
              </a:rPr>
              <a:t>机制</a:t>
            </a:r>
            <a:endParaRPr lang="zh-CN" altLang="en-US" sz="1400" kern="0" dirty="0">
              <a:ln>
                <a:noFill/>
                <a:prstDash val="sysDot"/>
              </a:ln>
              <a:gradFill>
                <a:gsLst>
                  <a:gs pos="0">
                    <a:srgbClr val="A6DC85"/>
                  </a:gs>
                  <a:gs pos="100000">
                    <a:srgbClr val="E4EDA6"/>
                  </a:gs>
                </a:gsLst>
                <a:lin ang="2700000" scaled="1"/>
                <a:tileRect/>
              </a:gradFill>
              <a:latin typeface="微软雅黑" panose="020B0503020204020204" charset="-122"/>
              <a:sym typeface="微软雅黑" panose="020B0503020204020204" charset="-122"/>
            </a:endParaRPr>
          </a:p>
          <a:p>
            <a:pPr marL="285750" lvl="0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zh-CN" altLang="en-US" sz="1400" kern="0" dirty="0">
              <a:ln>
                <a:noFill/>
                <a:prstDash val="sysDot"/>
              </a:ln>
              <a:gradFill>
                <a:gsLst>
                  <a:gs pos="0">
                    <a:srgbClr val="A6DC85"/>
                  </a:gs>
                  <a:gs pos="100000">
                    <a:srgbClr val="E4EDA6"/>
                  </a:gs>
                </a:gsLst>
                <a:lin ang="2700000" scaled="1"/>
                <a:tileRect/>
              </a:gradFill>
              <a:latin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2" name="标题"/>
          <p:cNvSpPr txBox="1"/>
          <p:nvPr>
            <p:custDataLst>
              <p:tags r:id="rId19"/>
            </p:custDataLst>
          </p:nvPr>
        </p:nvSpPr>
        <p:spPr>
          <a:xfrm>
            <a:off x="4908550" y="2120265"/>
            <a:ext cx="1988185" cy="337185"/>
          </a:xfrm>
          <a:prstGeom prst="roundRect">
            <a:avLst>
              <a:gd name="adj" fmla="val 50000"/>
            </a:avLst>
          </a:pr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ctr">
              <a:defRPr sz="1600" b="1" spc="300">
                <a:solidFill>
                  <a:srgbClr val="376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zh-CN" altLang="en-US" dirty="0">
                <a:solidFill>
                  <a:schemeClr val="bg1"/>
                </a:solidFill>
                <a:sym typeface="+mn-ea"/>
              </a:rPr>
              <a:t>评估体系</a:t>
            </a:r>
            <a:r>
              <a:rPr lang="zh-CN" altLang="en-US" dirty="0">
                <a:solidFill>
                  <a:schemeClr val="bg1"/>
                </a:solidFill>
                <a:sym typeface="+mn-ea"/>
              </a:rPr>
              <a:t>运</a:t>
            </a:r>
            <a:r>
              <a:rPr lang="zh-CN" altLang="en-US" dirty="0">
                <a:solidFill>
                  <a:schemeClr val="bg1"/>
                </a:solidFill>
                <a:sym typeface="+mn-ea"/>
              </a:rPr>
              <a:t>营</a:t>
            </a:r>
            <a:endParaRPr lang="zh-CN" altLang="en-US" dirty="0">
              <a:sym typeface="+mn-ea"/>
            </a:endParaRPr>
          </a:p>
        </p:txBody>
      </p:sp>
    </p:spTree>
    <p:custDataLst>
      <p:tags r:id="rId20"/>
    </p:custDataLst>
  </p:cSld>
  <p:clrMapOvr>
    <a:masterClrMapping/>
  </p:clrMapOvr>
</p:sld>
</file>

<file path=ppt/tags/tag1.xml><?xml version="1.0" encoding="utf-8"?>
<p:tagLst xmlns:p="http://schemas.openxmlformats.org/presentationml/2006/main">
  <p:tag name="RESOURCE_RECORD_KEY" val="{&quot;70&quot;:[3327356]}"/>
</p:tagLst>
</file>

<file path=ppt/tags/tag2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36918_2*m_h_f*1_1_1"/>
  <p:tag name="KSO_WM_TEMPLATE_CATEGORY" val="diagram"/>
  <p:tag name="KSO_WM_TEMPLATE_INDEX" val="2023691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PRESET_TEXT" val="单击此处添加文本，简明扼要地阐述观点。"/>
  <p:tag name="KSO_WM_UNIT_TEXT_FILL_FORE_SCHEMECOLOR_INDEX" val="1"/>
  <p:tag name="KSO_WM_UNIT_TEXT_FILL_TYPE" val="1"/>
  <p:tag name="KSO_WM_DIAGRAM_MAX_ITEMCNT" val="5"/>
  <p:tag name="KSO_WM_DIAGRAM_MIN_ITEMCNT" val="2"/>
  <p:tag name="KSO_WM_DIAGRAM_VIRTUALLY_FRAME" val="{&quot;height&quot;:331.9,&quot;left&quot;:10.9,&quot;top&quot;:105.55,&quot;width&quot;:940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]}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1"/>
  <p:tag name="KSO_WM_UNIT_ID" val="diagram20236918_2*m_i*1_1"/>
  <p:tag name="KSO_WM_TEMPLATE_CATEGORY" val="diagram"/>
  <p:tag name="KSO_WM_TEMPLATE_INDEX" val="20236918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337.8,&quot;left&quot;:10.9,&quot;top&quot;:104.25,&quot;width&quot;:940.95}"/>
  <p:tag name="KSO_WM_DIAGRAM_COLOR_MATCH_VALUE" val="{&quot;shape&quot;:{&quot;fill&quot;:{&quot;gradient&quot;:[{&quot;brightness&quot;:0,&quot;colorType&quot;:1,&quot;foreColorIndex&quot;:5,&quot;pos&quot;:1,&quot;transparency&quot;:0.6000000238418579},{&quot;brightness&quot;:0,&quot;colorType&quot;:1,&quot;foreColorIndex&quot;:5,&quot;pos&quot;:0.4699999988079071,&quot;transparency&quot;:0.800000011920929},{&quot;brightness&quot;:0,&quot;colorType&quot;:1,&quot;foreColorIndex&quot;:5,&quot;pos&quot;:0,&quot;transparency&quot;:1}],&quot;type&quot;:3},&quot;glow&quot;:{&quot;colorType&quot;:0},&quot;line&quot;:{&quot;gradient&quot;:[{&quot;brightness&quot;:0,&quot;colorType&quot;:1,&quot;foreColorIndex&quot;:5,&quot;pos&quot;:0.6800000071525574,&quot;transparency&quot;:0},{&quot;brightness&quot;:0,&quot;colorType&quot;:1,&quot;foreColorIndex&quot;:5,&quot;pos&quot;:0.33000001311302185,&quot;transparency&quot;:0.6000000238418579},{&quot;brightness&quot;:0,&quot;colorType&quot;:1,&quot;foreColorIndex&quot;:5,&quot;pos&quot;:0,&quot;transparency&quot;:1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1_1"/>
  <p:tag name="KSO_WM_UNIT_ID" val="diagram20236918_2*m_h_i*1_1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GROUP_CODE" val="m1-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337.8,&quot;left&quot;:10.9,&quot;top&quot;:104.25,&quot;width&quot;:940.95}"/>
  <p:tag name="KSO_WM_DIAGRAM_COLOR_MATCH_VALUE" val="{&quot;shape&quot;:{&quot;fill&quot;:{&quot;gradient&quot;:[{&quot;brightness&quot;:0,&quot;colorType&quot;:1,&quot;foreColorIndex&quot;:5,&quot;pos&quot;:0,&quot;transparency&quot;:0},{&quot;brightness&quot;:0.6000000238418579,&quot;colorType&quot;:1,&quot;foreColorIndex&quot;:5,&quot;pos&quot;:0.6299999952316284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20000000298023224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3_1"/>
  <p:tag name="KSO_WM_UNIT_ID" val="diagram20236918_2*m_h_i*1_3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GROUP_CODE" val="m1-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337.8,&quot;left&quot;:10.9,&quot;top&quot;:104.25,&quot;width&quot;:940.95}"/>
  <p:tag name="KSO_WM_DIAGRAM_COLOR_MATCH_VALUE" val="{&quot;shape&quot;:{&quot;fill&quot;:{&quot;gradient&quot;:[{&quot;brightness&quot;:0,&quot;colorType&quot;:1,&quot;foreColorIndex&quot;:5,&quot;pos&quot;:0,&quot;transparency&quot;:0},{&quot;brightness&quot;:0.6000000238418579,&quot;colorType&quot;:1,&quot;foreColorIndex&quot;:5,&quot;pos&quot;:0.6299999952316284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20000000298023224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6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36918_2*m_h_f*1_1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，简明扼要地阐述观点。"/>
  <p:tag name="KSO_WM_UNIT_TEXT_FILL_FORE_SCHEMECOLOR_INDEX" val="1"/>
  <p:tag name="KSO_WM_UNIT_TEXT_FILL_TYPE" val="1"/>
  <p:tag name="KSO_WM_DIAGRAM_MAX_ITEMCNT" val="5"/>
  <p:tag name="KSO_WM_DIAGRAM_MIN_ITEMCNT" val="2"/>
  <p:tag name="KSO_WM_DIAGRAM_VIRTUALLY_FRAME" val="{&quot;height&quot;:337.8,&quot;left&quot;:10.9,&quot;top&quot;:104.25,&quot;width&quot;:940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]}"/>
</p:tagLst>
</file>

<file path=ppt/tags/tag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6918_2*m_h_a*1_1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UNIT_PRESET_TEXT" val="添加标题"/>
  <p:tag name="KSO_WM_UNIT_FILL_TYPE" val="3"/>
  <p:tag name="KSO_WM_UNIT_TEXT_FILL_FORE_SCHEMECOLOR_INDEX" val="1"/>
  <p:tag name="KSO_WM_UNIT_TEXT_FILL_TYPE" val="1"/>
  <p:tag name="KSO_WM_DIAGRAM_MAX_ITEMCNT" val="5"/>
  <p:tag name="KSO_WM_DIAGRAM_MIN_ITEMCNT" val="2"/>
  <p:tag name="KSO_WM_DIAGRAM_VIRTUALLY_FRAME" val="{&quot;height&quot;:337.8,&quot;left&quot;:10.9,&quot;top&quot;:104.25,&quot;width&quot;:940.95}"/>
  <p:tag name="KSO_WM_DIAGRAM_COLOR_MATCH_VALUE" val="{&quot;shape&quot;:{&quot;fill&quot;:{&quot;gradient&quot;:[{&quot;brightness&quot;:0,&quot;colorType&quot;:2,&quot;pos&quot;:0.23000000417232513,&quot;rgb&quot;:&quot;#ffffff&quot;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]}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36918_2*m_h_i*1_2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37.8,&quot;left&quot;:10.9,&quot;top&quot;:104.25,&quot;width&quot;:940.9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5,&quot;transparency&quot;:0.6000000238418579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2"/>
  <p:tag name="KSO_WM_UNIT_ID" val="diagram20236918_2*m_h_i*1_3_2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37.8,&quot;left&quot;:10.9,&quot;top&quot;:104.25,&quot;width&quot;:940.9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5,&quot;transparency&quot;:0.6000000238418579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6918_2*m_h_a*1_2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UNIT_PRESET_TEXT" val="添加标题"/>
  <p:tag name="KSO_WM_UNIT_FILL_TYPE" val="3"/>
  <p:tag name="KSO_WM_UNIT_TEXT_FILL_FORE_SCHEMECOLOR_INDEX" val="1"/>
  <p:tag name="KSO_WM_UNIT_TEXT_FILL_TYPE" val="1"/>
  <p:tag name="KSO_WM_DIAGRAM_MAX_ITEMCNT" val="5"/>
  <p:tag name="KSO_WM_DIAGRAM_MIN_ITEMCNT" val="2"/>
  <p:tag name="KSO_WM_DIAGRAM_VIRTUALLY_FRAME" val="{&quot;height&quot;:337.8,&quot;left&quot;:10.9,&quot;top&quot;:104.25,&quot;width&quot;:940.95}"/>
  <p:tag name="KSO_WM_DIAGRAM_COLOR_MATCH_VALUE" val="{&quot;shape&quot;:{&quot;fill&quot;:{&quot;gradient&quot;:[{&quot;brightness&quot;:0,&quot;colorType&quot;:2,&quot;pos&quot;:0.23000000417232513,&quot;rgb&quot;:&quot;#ffffff&quot;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]}"/>
</p:tagLst>
</file>

<file path=ppt/tags/tag11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36918_2*m_h_f*1_2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，简明扼要地阐述观点。"/>
  <p:tag name="KSO_WM_UNIT_TEXT_FILL_FORE_SCHEMECOLOR_INDEX" val="1"/>
  <p:tag name="KSO_WM_UNIT_TEXT_FILL_TYPE" val="1"/>
  <p:tag name="KSO_WM_DIAGRAM_MAX_ITEMCNT" val="5"/>
  <p:tag name="KSO_WM_DIAGRAM_MIN_ITEMCNT" val="2"/>
  <p:tag name="KSO_WM_DIAGRAM_VIRTUALLY_FRAME" val="{&quot;height&quot;:337.8,&quot;left&quot;:10.9,&quot;top&quot;:104.25,&quot;width&quot;:940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]}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2_2"/>
  <p:tag name="KSO_WM_UNIT_ID" val="diagram20236918_2*m_h_i*1_2_2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GROUP_CODE" val="m1-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337.8,&quot;left&quot;:10.9,&quot;top&quot;:104.25,&quot;width&quot;:940.95}"/>
  <p:tag name="KSO_WM_DIAGRAM_COLOR_MATCH_VALUE" val="{&quot;shape&quot;:{&quot;fill&quot;:{&quot;gradient&quot;:[{&quot;brightness&quot;:0,&quot;colorType&quot;:1,&quot;foreColorIndex&quot;:5,&quot;pos&quot;:0,&quot;transparency&quot;:0},{&quot;brightness&quot;:0.6000000238418579,&quot;colorType&quot;:1,&quot;foreColorIndex&quot;:5,&quot;pos&quot;:0.6299999952316284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20000000298023224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6918_2*m_h_a*1_3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UNIT_PRESET_TEXT" val="添加标题"/>
  <p:tag name="KSO_WM_UNIT_FILL_TYPE" val="3"/>
  <p:tag name="KSO_WM_UNIT_TEXT_FILL_FORE_SCHEMECOLOR_INDEX" val="1"/>
  <p:tag name="KSO_WM_UNIT_TEXT_FILL_TYPE" val="1"/>
  <p:tag name="KSO_WM_DIAGRAM_MAX_ITEMCNT" val="5"/>
  <p:tag name="KSO_WM_DIAGRAM_MIN_ITEMCNT" val="2"/>
  <p:tag name="KSO_WM_DIAGRAM_VIRTUALLY_FRAME" val="{&quot;height&quot;:337.8,&quot;left&quot;:10.9,&quot;top&quot;:104.25,&quot;width&quot;:940.95}"/>
  <p:tag name="KSO_WM_DIAGRAM_COLOR_MATCH_VALUE" val="{&quot;shape&quot;:{&quot;fill&quot;:{&quot;gradient&quot;:[{&quot;brightness&quot;:0,&quot;colorType&quot;:2,&quot;pos&quot;:0.23000000417232513,&quot;rgb&quot;:&quot;#ffffff&quot;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]}"/>
</p:tagLst>
</file>

<file path=ppt/tags/tag14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3_1"/>
  <p:tag name="KSO_WM_UNIT_ID" val="diagram20236918_2*m_h_f*1_3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，简明扼要地阐述观点。"/>
  <p:tag name="KSO_WM_UNIT_TEXT_FILL_FORE_SCHEMECOLOR_INDEX" val="1"/>
  <p:tag name="KSO_WM_UNIT_TEXT_FILL_TYPE" val="1"/>
  <p:tag name="KSO_WM_DIAGRAM_MAX_ITEMCNT" val="5"/>
  <p:tag name="KSO_WM_DIAGRAM_MIN_ITEMCNT" val="2"/>
  <p:tag name="KSO_WM_DIAGRAM_VIRTUALLY_FRAME" val="{&quot;height&quot;:337.8,&quot;left&quot;:10.9,&quot;top&quot;:104.25,&quot;width&quot;:940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]}"/>
</p:tagLst>
</file>

<file path=ppt/tags/tag1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6918_2*m_h_a*1_1_1"/>
  <p:tag name="KSO_WM_TEMPLATE_CATEGORY" val="diagram"/>
  <p:tag name="KSO_WM_TEMPLATE_INDEX" val="20236918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UNIT_PRESET_TEXT" val="添加标题"/>
  <p:tag name="KSO_WM_UNIT_FILL_TYPE" val="3"/>
  <p:tag name="KSO_WM_UNIT_TEXT_FILL_FORE_SCHEMECOLOR_INDEX" val="1"/>
  <p:tag name="KSO_WM_UNIT_TEXT_FILL_TYPE" val="1"/>
  <p:tag name="KSO_WM_DIAGRAM_MAX_ITEMCNT" val="5"/>
  <p:tag name="KSO_WM_DIAGRAM_MIN_ITEMCNT" val="2"/>
  <p:tag name="KSO_WM_DIAGRAM_VIRTUALLY_FRAME" val="{&quot;height&quot;:357.8187255859375,&quot;left&quot;:28.2,&quot;top&quot;:91.14063720703125,&quot;width&quot;:883.7000061035156}"/>
  <p:tag name="KSO_WM_DIAGRAM_COLOR_MATCH_VALUE" val="{&quot;shape&quot;:{&quot;fill&quot;:{&quot;gradient&quot;:[{&quot;brightness&quot;:0,&quot;colorType&quot;:2,&quot;pos&quot;:0.23000000417232513,&quot;rgb&quot;:&quot;#ffffff&quot;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]}"/>
</p:tagLst>
</file>

<file path=ppt/tags/tag16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36918_2*m_h_f*1_1_1"/>
  <p:tag name="KSO_WM_TEMPLATE_CATEGORY" val="diagram"/>
  <p:tag name="KSO_WM_TEMPLATE_INDEX" val="2023691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PRESET_TEXT" val="单击此处添加文本，简明扼要地阐述观点。"/>
  <p:tag name="KSO_WM_UNIT_TEXT_FILL_FORE_SCHEMECOLOR_INDEX" val="1"/>
  <p:tag name="KSO_WM_UNIT_TEXT_FILL_TYPE" val="1"/>
  <p:tag name="KSO_WM_DIAGRAM_MAX_ITEMCNT" val="5"/>
  <p:tag name="KSO_WM_DIAGRAM_MIN_ITEMCNT" val="2"/>
  <p:tag name="KSO_WM_DIAGRAM_VIRTUALLY_FRAME" val="{&quot;height&quot;:331.9,&quot;left&quot;:10.9,&quot;top&quot;:105.55,&quot;width&quot;:940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]}"/>
</p:tagLst>
</file>

<file path=ppt/tags/tag1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6918_2*m_h_a*1_1_1"/>
  <p:tag name="KSO_WM_TEMPLATE_CATEGORY" val="diagram"/>
  <p:tag name="KSO_WM_TEMPLATE_INDEX" val="20236918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UNIT_PRESET_TEXT" val="添加标题"/>
  <p:tag name="KSO_WM_UNIT_FILL_TYPE" val="3"/>
  <p:tag name="KSO_WM_UNIT_TEXT_FILL_FORE_SCHEMECOLOR_INDEX" val="1"/>
  <p:tag name="KSO_WM_UNIT_TEXT_FILL_TYPE" val="1"/>
  <p:tag name="KSO_WM_DIAGRAM_MAX_ITEMCNT" val="5"/>
  <p:tag name="KSO_WM_DIAGRAM_MIN_ITEMCNT" val="2"/>
  <p:tag name="KSO_WM_DIAGRAM_VIRTUALLY_FRAME" val="{&quot;height&quot;:357.8187255859375,&quot;left&quot;:28.2,&quot;top&quot;:91.14063720703125,&quot;width&quot;:883.7000061035156}"/>
  <p:tag name="KSO_WM_DIAGRAM_COLOR_MATCH_VALUE" val="{&quot;shape&quot;:{&quot;fill&quot;:{&quot;gradient&quot;:[{&quot;brightness&quot;:0,&quot;colorType&quot;:2,&quot;pos&quot;:0.23000000417232513,&quot;rgb&quot;:&quot;#ffffff&quot;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]}"/>
</p:tagLst>
</file>

<file path=ppt/tags/tag18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36918_2*m_h_f*1_1_1"/>
  <p:tag name="KSO_WM_TEMPLATE_CATEGORY" val="diagram"/>
  <p:tag name="KSO_WM_TEMPLATE_INDEX" val="2023691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PRESET_TEXT" val="单击此处添加文本，简明扼要地阐述观点。"/>
  <p:tag name="KSO_WM_UNIT_TEXT_FILL_FORE_SCHEMECOLOR_INDEX" val="1"/>
  <p:tag name="KSO_WM_UNIT_TEXT_FILL_TYPE" val="1"/>
  <p:tag name="KSO_WM_DIAGRAM_MAX_ITEMCNT" val="5"/>
  <p:tag name="KSO_WM_DIAGRAM_MIN_ITEMCNT" val="2"/>
  <p:tag name="KSO_WM_DIAGRAM_VIRTUALLY_FRAME" val="{&quot;height&quot;:331.9,&quot;left&quot;:10.9,&quot;top&quot;:105.55,&quot;width&quot;:940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]}"/>
</p:tagLst>
</file>

<file path=ppt/tags/tag1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6918_2*m_h_a*1_1_1"/>
  <p:tag name="KSO_WM_TEMPLATE_CATEGORY" val="diagram"/>
  <p:tag name="KSO_WM_TEMPLATE_INDEX" val="20236918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UNIT_PRESET_TEXT" val="添加标题"/>
  <p:tag name="KSO_WM_UNIT_FILL_TYPE" val="3"/>
  <p:tag name="KSO_WM_UNIT_TEXT_FILL_FORE_SCHEMECOLOR_INDEX" val="1"/>
  <p:tag name="KSO_WM_UNIT_TEXT_FILL_TYPE" val="1"/>
  <p:tag name="KSO_WM_DIAGRAM_MAX_ITEMCNT" val="5"/>
  <p:tag name="KSO_WM_DIAGRAM_MIN_ITEMCNT" val="2"/>
  <p:tag name="KSO_WM_DIAGRAM_VIRTUALLY_FRAME" val="{&quot;height&quot;:357.8187255859375,&quot;left&quot;:28.2,&quot;top&quot;:91.14063720703125,&quot;width&quot;:883.7000061035156}"/>
  <p:tag name="KSO_WM_DIAGRAM_COLOR_MATCH_VALUE" val="{&quot;shape&quot;:{&quot;fill&quot;:{&quot;gradient&quot;:[{&quot;brightness&quot;:0,&quot;colorType&quot;:2,&quot;pos&quot;:0.23000000417232513,&quot;rgb&quot;:&quot;#ffffff&quot;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]}"/>
</p:tagLst>
</file>

<file path=ppt/tags/tag20.xml><?xml version="1.0" encoding="utf-8"?>
<p:tagLst xmlns:p="http://schemas.openxmlformats.org/presentationml/2006/main">
  <p:tag name="RESOURCE_RECORD_KEY" val="{&quot;13&quot;:[4663468,20242013,20482075,20242012,4721696]}"/>
</p:tagLst>
</file>

<file path=ppt/tags/tag21.xml><?xml version="1.0" encoding="utf-8"?>
<p:tagLst xmlns:p="http://schemas.openxmlformats.org/presentationml/2006/main">
  <p:tag name="resource_record_key" val="{&quot;13&quot;:[4663468,20242013,20482075,20242012,4721696],&quot;70&quot;:[3327356]}"/>
  <p:tag name="commondata" val="eyJoZGlkIjoiM2FiZDIzMjBhYjY3YjcwYmIxYWI1NjM4YzVmYjEyMDM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</Words>
  <Application>WPS 演示</Application>
  <PresentationFormat>宽屏</PresentationFormat>
  <Paragraphs>45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Roboto Regular</vt:lpstr>
      <vt:lpstr>思源黑体 CN Regular</vt:lpstr>
      <vt:lpstr>Arial Unicode MS</vt:lpstr>
      <vt:lpstr>Segoe Print</vt:lpstr>
      <vt:lpstr>Calibri</vt:lpstr>
      <vt:lpstr>黑体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78905</dc:creator>
  <cp:lastModifiedBy>哈哈哈哈哈</cp:lastModifiedBy>
  <cp:revision>3</cp:revision>
  <dcterms:created xsi:type="dcterms:W3CDTF">2023-08-09T12:44:00Z</dcterms:created>
  <dcterms:modified xsi:type="dcterms:W3CDTF">2024-10-12T02:39:25Z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2052-12.1.0.17857</vt:lpwstr>
  </property>
</Properties>
</file>